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C9D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046720" y="640080"/>
            <a:ext cx="2926080" cy="2926080"/>
          </a:xfrm>
          <a:prstGeom prst="ellipse">
            <a:avLst/>
          </a:prstGeom>
          <a:solidFill>
            <a:srgbClr val="0C9D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01200" y="3108960"/>
            <a:ext cx="1645920" cy="1645920"/>
          </a:xfrm>
          <a:prstGeom prst="ellipse">
            <a:avLst/>
          </a:prstGeom>
          <a:solidFill>
            <a:srgbClr val="7CB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6217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Arial"/>
              </a:rPr>
              <a:t>AegisTrust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6583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F4E8CA"/>
                </a:solidFill>
                <a:latin typeface="Arial"/>
              </a:rPr>
              <a:t>AI 可信执行基础设施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2608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FFFFFF"/>
                </a:solidFill>
                <a:latin typeface="Arial"/>
              </a:rPr>
              <a:t>让关键 AI 动作可拦截、可留证、可复验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03504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4E8CA"/>
                </a:solidFill>
                <a:latin typeface="Arial"/>
              </a:rPr>
              <a:t>获奖叙事版 · 2026-03-13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C9D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749807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41C30"/>
                </a:solidFill>
                <a:latin typeface="Arial"/>
              </a:rPr>
              <a:t>时代变化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07040" y="411480"/>
            <a:ext cx="914400" cy="384048"/>
          </a:xfrm>
          <a:prstGeom prst="roundRect">
            <a:avLst/>
          </a:prstGeom>
          <a:solidFill>
            <a:srgbClr val="F4E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D253F"/>
                </a:solidFill>
                <a:latin typeface="Arial"/>
              </a:rP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7498079" cy="4892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72768"/>
            <a:ext cx="66751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 b="1">
                <a:solidFill>
                  <a:srgbClr val="141C30"/>
                </a:solidFill>
                <a:latin typeface="Arial"/>
              </a:rPr>
              <a:t>AI 正在从“会说”走向“会做”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97480"/>
            <a:ext cx="68580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 b="0">
                <a:solidFill>
                  <a:srgbClr val="141C30"/>
                </a:solidFill>
                <a:latin typeface="Arial"/>
              </a:rPr>
              <a:t>从回答问题，进入调用工具、改配置、触发流程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141C30"/>
                </a:solidFill>
                <a:latin typeface="Arial"/>
              </a:rPr>
              <a:t>一旦进入真实系统，风险等级会立刻变化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141C30"/>
                </a:solidFill>
                <a:latin typeface="Arial"/>
              </a:rPr>
              <a:t>下一层竞争，不只是模型能力，而是执行信任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58200" y="1325880"/>
            <a:ext cx="3063240" cy="4892040"/>
          </a:xfrm>
          <a:prstGeom prst="roundRect">
            <a:avLst/>
          </a:prstGeom>
          <a:solidFill>
            <a:srgbClr val="0D2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32520" y="16459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4E8CA"/>
                </a:solidFill>
                <a:latin typeface="Arial"/>
              </a:rPr>
              <a:t>一句话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20" y="2240280"/>
            <a:ext cx="246888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rial"/>
              </a:rPr>
              <a:t>从会说，到会做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32520" y="4892040"/>
            <a:ext cx="24688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F4E8CA"/>
                </a:solidFill>
                <a:latin typeface="Arial"/>
              </a:rPr>
              <a:t>AI 可信执行
面向真实动作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C9D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749807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41C30"/>
                </a:solidFill>
                <a:latin typeface="Arial"/>
              </a:rPr>
              <a:t>真实痛点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07040" y="411480"/>
            <a:ext cx="914400" cy="384048"/>
          </a:xfrm>
          <a:prstGeom prst="roundRect">
            <a:avLst/>
          </a:prstGeom>
          <a:solidFill>
            <a:srgbClr val="F4E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D253F"/>
                </a:solidFill>
                <a:latin typeface="Arial"/>
              </a:rP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7498079" cy="4892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72768"/>
            <a:ext cx="66751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 b="1">
                <a:solidFill>
                  <a:srgbClr val="141C30"/>
                </a:solidFill>
                <a:latin typeface="Arial"/>
              </a:rPr>
              <a:t>企业怕的不是 AI 说错一句话，而是它做错一件事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97480"/>
            <a:ext cx="68580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 b="0">
                <a:solidFill>
                  <a:srgbClr val="141C30"/>
                </a:solidFill>
                <a:latin typeface="Arial"/>
              </a:rPr>
              <a:t>上下文缺失、幻觉和策略偏差，会穿透到真实动作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141C30"/>
                </a:solidFill>
                <a:latin typeface="Arial"/>
              </a:rPr>
              <a:t>事故发生后，组织最怕的是说不清楚过程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141C30"/>
                </a:solidFill>
                <a:latin typeface="Arial"/>
              </a:rPr>
              <a:t>高责任场景天然要求边界、留痕和复验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58200" y="1325880"/>
            <a:ext cx="3063240" cy="4892040"/>
          </a:xfrm>
          <a:prstGeom prst="roundRect">
            <a:avLst/>
          </a:prstGeom>
          <a:solidFill>
            <a:srgbClr val="0D2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32520" y="16459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4E8CA"/>
                </a:solidFill>
                <a:latin typeface="Arial"/>
              </a:rPr>
              <a:t>一句话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20" y="2240280"/>
            <a:ext cx="246888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rial"/>
              </a:rPr>
              <a:t>核心问题是动作可信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32520" y="4892040"/>
            <a:ext cx="24688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F4E8CA"/>
                </a:solidFill>
                <a:latin typeface="Arial"/>
              </a:rPr>
              <a:t>AI 可信执行
面向真实动作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C9D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749807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41C30"/>
                </a:solidFill>
                <a:latin typeface="Arial"/>
              </a:rPr>
              <a:t>市场缺口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07040" y="411480"/>
            <a:ext cx="914400" cy="384048"/>
          </a:xfrm>
          <a:prstGeom prst="roundRect">
            <a:avLst/>
          </a:prstGeom>
          <a:solidFill>
            <a:srgbClr val="F4E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D253F"/>
                </a:solidFill>
                <a:latin typeface="Arial"/>
              </a:rP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7498079" cy="4892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72768"/>
            <a:ext cx="66751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 b="1">
                <a:solidFill>
                  <a:srgbClr val="141C30"/>
                </a:solidFill>
                <a:latin typeface="Arial"/>
              </a:rPr>
              <a:t>现有 AI 栈更擅长让模型有用，不够擅长让动作可信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97480"/>
            <a:ext cx="68580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 b="0">
                <a:solidFill>
                  <a:srgbClr val="141C30"/>
                </a:solidFill>
                <a:latin typeface="Arial"/>
              </a:rPr>
              <a:t>模型层解决能力，不直接解决责任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141C30"/>
                </a:solidFill>
                <a:latin typeface="Arial"/>
              </a:rPr>
              <a:t>日志平台能回看，不一定能强证明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141C30"/>
                </a:solidFill>
                <a:latin typeface="Arial"/>
              </a:rPr>
              <a:t>单点插件能守一处，守不住整条链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58200" y="1325880"/>
            <a:ext cx="3063240" cy="4892040"/>
          </a:xfrm>
          <a:prstGeom prst="roundRect">
            <a:avLst/>
          </a:prstGeom>
          <a:solidFill>
            <a:srgbClr val="0D2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32520" y="16459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4E8CA"/>
                </a:solidFill>
                <a:latin typeface="Arial"/>
              </a:rPr>
              <a:t>一句话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20" y="2240280"/>
            <a:ext cx="246888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rial"/>
              </a:rPr>
              <a:t>缺的是闭环，不是零件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32520" y="4892040"/>
            <a:ext cx="24688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F4E8CA"/>
                </a:solidFill>
                <a:latin typeface="Arial"/>
              </a:rPr>
              <a:t>AI 可信执行
面向真实动作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C9D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749807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41C30"/>
                </a:solidFill>
                <a:latin typeface="Arial"/>
              </a:rPr>
              <a:t>项目定位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07040" y="411480"/>
            <a:ext cx="914400" cy="384048"/>
          </a:xfrm>
          <a:prstGeom prst="roundRect">
            <a:avLst/>
          </a:prstGeom>
          <a:solidFill>
            <a:srgbClr val="F4E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D253F"/>
                </a:solidFill>
                <a:latin typeface="Arial"/>
              </a:rP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7498079" cy="4892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72768"/>
            <a:ext cx="66751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 b="1">
                <a:solidFill>
                  <a:srgbClr val="141C30"/>
                </a:solidFill>
                <a:latin typeface="Arial"/>
              </a:rPr>
              <a:t>AegisTrust 补的是 AI 进入真实流程后的可信执行层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97480"/>
            <a:ext cx="68580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 b="0">
                <a:solidFill>
                  <a:srgbClr val="141C30"/>
                </a:solidFill>
                <a:latin typeface="Arial"/>
              </a:rPr>
              <a:t>不和每一次模型判断赌输赢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141C30"/>
                </a:solidFill>
                <a:latin typeface="Arial"/>
              </a:rPr>
              <a:t>在关键动作前后补一条可验证的执行链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141C30"/>
                </a:solidFill>
                <a:latin typeface="Arial"/>
              </a:rPr>
              <a:t>让组织更敢把 AI 放进高责任流程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58200" y="1325880"/>
            <a:ext cx="3063240" cy="4892040"/>
          </a:xfrm>
          <a:prstGeom prst="roundRect">
            <a:avLst/>
          </a:prstGeom>
          <a:solidFill>
            <a:srgbClr val="0D2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32520" y="16459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4E8CA"/>
                </a:solidFill>
                <a:latin typeface="Arial"/>
              </a:rPr>
              <a:t>一句话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20" y="2240280"/>
            <a:ext cx="246888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rial"/>
              </a:rPr>
              <a:t>AI 可信执行基础设施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32520" y="4892040"/>
            <a:ext cx="24688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F4E8CA"/>
                </a:solidFill>
                <a:latin typeface="Arial"/>
              </a:rPr>
              <a:t>AI 可信执行
面向真实动作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C9D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749807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41C30"/>
                </a:solidFill>
                <a:latin typeface="Arial"/>
              </a:rPr>
              <a:t>为什么是基础设施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07040" y="411480"/>
            <a:ext cx="914400" cy="384048"/>
          </a:xfrm>
          <a:prstGeom prst="roundRect">
            <a:avLst/>
          </a:prstGeom>
          <a:solidFill>
            <a:srgbClr val="F4E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D253F"/>
                </a:solidFill>
                <a:latin typeface="Arial"/>
              </a:rP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7498079" cy="4892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72768"/>
            <a:ext cx="66751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 b="1">
                <a:solidFill>
                  <a:srgbClr val="141C30"/>
                </a:solidFill>
                <a:latin typeface="Arial"/>
              </a:rPr>
              <a:t>因为这个问题会跨模型、跨框架、跨场景反复出现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97480"/>
            <a:ext cx="68580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 b="0">
                <a:solidFill>
                  <a:srgbClr val="141C30"/>
                </a:solidFill>
                <a:latin typeface="Arial"/>
              </a:rPr>
              <a:t>企业可以换模型，但不会放弃对关键动作的控制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141C30"/>
                </a:solidFill>
                <a:latin typeface="Arial"/>
              </a:rPr>
              <a:t>企业可以换框架，但不会放弃对结果的追责能力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141C30"/>
                </a:solidFill>
                <a:latin typeface="Arial"/>
              </a:rPr>
              <a:t>可信执行是底层共性需求，不是单一工具需求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58200" y="1325880"/>
            <a:ext cx="3063240" cy="4892040"/>
          </a:xfrm>
          <a:prstGeom prst="roundRect">
            <a:avLst/>
          </a:prstGeom>
          <a:solidFill>
            <a:srgbClr val="0D2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32520" y="16459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4E8CA"/>
                </a:solidFill>
                <a:latin typeface="Arial"/>
              </a:rPr>
              <a:t>一句话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20" y="2240280"/>
            <a:ext cx="246888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rial"/>
              </a:rPr>
              <a:t>不是插件，是底层能力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32520" y="4892040"/>
            <a:ext cx="24688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F4E8CA"/>
                </a:solidFill>
                <a:latin typeface="Arial"/>
              </a:rPr>
              <a:t>AI 可信执行
面向真实动作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C9D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749807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41C30"/>
                </a:solidFill>
                <a:latin typeface="Arial"/>
              </a:rPr>
              <a:t>解决思路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07040" y="411480"/>
            <a:ext cx="914400" cy="384048"/>
          </a:xfrm>
          <a:prstGeom prst="roundRect">
            <a:avLst/>
          </a:prstGeom>
          <a:solidFill>
            <a:srgbClr val="F4E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D253F"/>
                </a:solidFill>
                <a:latin typeface="Arial"/>
              </a:rP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7498079" cy="4892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72768"/>
            <a:ext cx="66751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 b="1">
                <a:solidFill>
                  <a:srgbClr val="141C30"/>
                </a:solidFill>
                <a:latin typeface="Arial"/>
              </a:rPr>
              <a:t>先拦住，再留票，最后还能查账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97480"/>
            <a:ext cx="68580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 b="0">
                <a:solidFill>
                  <a:srgbClr val="141C30"/>
                </a:solidFill>
                <a:latin typeface="Arial"/>
              </a:rPr>
              <a:t>事前：上线前做门禁检查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141C30"/>
                </a:solidFill>
                <a:latin typeface="Arial"/>
              </a:rPr>
              <a:t>事中：关键动作必须带收据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141C30"/>
                </a:solidFill>
                <a:latin typeface="Arial"/>
              </a:rPr>
              <a:t>事后：结果导出成独立可复验的证据包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58200" y="1325880"/>
            <a:ext cx="3063240" cy="4892040"/>
          </a:xfrm>
          <a:prstGeom prst="roundRect">
            <a:avLst/>
          </a:prstGeom>
          <a:solidFill>
            <a:srgbClr val="0D2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32520" y="16459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4E8CA"/>
                </a:solidFill>
                <a:latin typeface="Arial"/>
              </a:rPr>
              <a:t>一句话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20" y="2240280"/>
            <a:ext cx="246888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rial"/>
              </a:rPr>
              <a:t>可拦截 · 可留证 · 可复验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32520" y="4892040"/>
            <a:ext cx="24688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F4E8CA"/>
                </a:solidFill>
                <a:latin typeface="Arial"/>
              </a:rPr>
              <a:t>AI 可信执行
面向真实动作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C9D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749807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41C30"/>
                </a:solidFill>
                <a:latin typeface="Arial"/>
              </a:rPr>
              <a:t>四层闭环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07040" y="411480"/>
            <a:ext cx="914400" cy="384048"/>
          </a:xfrm>
          <a:prstGeom prst="roundRect">
            <a:avLst/>
          </a:prstGeom>
          <a:solidFill>
            <a:srgbClr val="F4E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D253F"/>
                </a:solidFill>
                <a:latin typeface="Arial"/>
              </a:rP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7498079" cy="4892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72768"/>
            <a:ext cx="66751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 b="1">
                <a:solidFill>
                  <a:srgbClr val="141C30"/>
                </a:solidFill>
                <a:latin typeface="Arial"/>
              </a:rPr>
              <a:t>当前商业化主线已经收敛成四层可信执行闭环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97480"/>
            <a:ext cx="68580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 b="0">
                <a:solidFill>
                  <a:srgbClr val="141C30"/>
                </a:solidFill>
                <a:latin typeface="Arial"/>
              </a:rPr>
              <a:t>god-spear：上线前门禁，先做自动体检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141C30"/>
                </a:solidFill>
                <a:latin typeface="Arial"/>
              </a:rPr>
              <a:t>safety-valve-spec：关键动作必须有标准化小票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141C30"/>
                </a:solidFill>
                <a:latin typeface="Arial"/>
              </a:rPr>
              <a:t>execution-integrity-core + aro-audit：过程能证明，结果能复查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58200" y="1325880"/>
            <a:ext cx="3063240" cy="4892040"/>
          </a:xfrm>
          <a:prstGeom prst="roundRect">
            <a:avLst/>
          </a:prstGeom>
          <a:solidFill>
            <a:srgbClr val="0D2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32520" y="16459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4E8CA"/>
                </a:solidFill>
                <a:latin typeface="Arial"/>
              </a:rPr>
              <a:t>一句话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20" y="2240280"/>
            <a:ext cx="246888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rial"/>
              </a:rPr>
              <a:t>四层，一条主线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32520" y="4892040"/>
            <a:ext cx="24688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F4E8CA"/>
                </a:solidFill>
                <a:latin typeface="Arial"/>
              </a:rPr>
              <a:t>AI 可信执行
面向真实动作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C9D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749807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41C30"/>
                </a:solidFill>
                <a:latin typeface="Arial"/>
              </a:rPr>
              <a:t>场景示例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07040" y="411480"/>
            <a:ext cx="914400" cy="384048"/>
          </a:xfrm>
          <a:prstGeom prst="roundRect">
            <a:avLst/>
          </a:prstGeom>
          <a:solidFill>
            <a:srgbClr val="F4E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D253F"/>
                </a:solidFill>
                <a:latin typeface="Arial"/>
              </a:rP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7498079" cy="4892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72768"/>
            <a:ext cx="66751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 b="1">
                <a:solidFill>
                  <a:srgbClr val="141C30"/>
                </a:solidFill>
                <a:latin typeface="Arial"/>
              </a:rPr>
              <a:t>以 AI 运维助手为例，关键不只是能不能做，而是能不能放心做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97480"/>
            <a:ext cx="68580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 b="0">
                <a:solidFill>
                  <a:srgbClr val="141C30"/>
                </a:solidFill>
                <a:latin typeface="Arial"/>
              </a:rPr>
              <a:t>没有可信执行时：动作快，但边界不清、责任不清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141C30"/>
                </a:solidFill>
                <a:latin typeface="Arial"/>
              </a:rPr>
              <a:t>接入 AegisTrust 后：高风险动作先过门禁，再留收据，最后出证据包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141C30"/>
                </a:solidFill>
                <a:latin typeface="Arial"/>
              </a:rPr>
              <a:t>同一套方法也适用于法务、财务和合规流程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58200" y="1325880"/>
            <a:ext cx="3063240" cy="4892040"/>
          </a:xfrm>
          <a:prstGeom prst="roundRect">
            <a:avLst/>
          </a:prstGeom>
          <a:solidFill>
            <a:srgbClr val="0D2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32520" y="16459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4E8CA"/>
                </a:solidFill>
                <a:latin typeface="Arial"/>
              </a:rPr>
              <a:t>一句话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20" y="2240280"/>
            <a:ext cx="246888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rial"/>
              </a:rPr>
              <a:t>先从高责任流程切入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32520" y="4892040"/>
            <a:ext cx="24688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F4E8CA"/>
                </a:solidFill>
                <a:latin typeface="Arial"/>
              </a:rPr>
              <a:t>AI 可信执行
面向真实动作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C9D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749807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41C30"/>
                </a:solidFill>
                <a:latin typeface="Arial"/>
              </a:rPr>
              <a:t>幻觉治理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07040" y="411480"/>
            <a:ext cx="914400" cy="384048"/>
          </a:xfrm>
          <a:prstGeom prst="roundRect">
            <a:avLst/>
          </a:prstGeom>
          <a:solidFill>
            <a:srgbClr val="F4E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D253F"/>
                </a:solidFill>
                <a:latin typeface="Arial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7498079" cy="4892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72768"/>
            <a:ext cx="66751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 b="1">
                <a:solidFill>
                  <a:srgbClr val="141C30"/>
                </a:solidFill>
                <a:latin typeface="Arial"/>
              </a:rPr>
              <a:t>我们不承诺消灭幻觉，我们承诺控制幻觉的伤害半径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97480"/>
            <a:ext cx="68580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 b="0">
                <a:solidFill>
                  <a:srgbClr val="141C30"/>
                </a:solidFill>
                <a:latin typeface="Arial"/>
              </a:rPr>
              <a:t>关键动作没有通过门禁，就不能进入可信路径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141C30"/>
                </a:solidFill>
                <a:latin typeface="Arial"/>
              </a:rPr>
              <a:t>没有收据和完整性链，就不能算合规执行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141C30"/>
                </a:solidFill>
                <a:latin typeface="Arial"/>
              </a:rPr>
              <a:t>错误从事故变成可治理、可追责的事件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58200" y="1325880"/>
            <a:ext cx="3063240" cy="4892040"/>
          </a:xfrm>
          <a:prstGeom prst="roundRect">
            <a:avLst/>
          </a:prstGeom>
          <a:solidFill>
            <a:srgbClr val="0D2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32520" y="16459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4E8CA"/>
                </a:solidFill>
                <a:latin typeface="Arial"/>
              </a:rPr>
              <a:t>一句话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20" y="2240280"/>
            <a:ext cx="246888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rial"/>
              </a:rPr>
              <a:t>先控后果，再谈优化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32520" y="4892040"/>
            <a:ext cx="24688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F4E8CA"/>
                </a:solidFill>
                <a:latin typeface="Arial"/>
              </a:rPr>
              <a:t>AI 可信执行
面向真实动作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C9D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749807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41C30"/>
                </a:solidFill>
                <a:latin typeface="Arial"/>
              </a:rPr>
              <a:t>项目真实性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07040" y="411480"/>
            <a:ext cx="914400" cy="384048"/>
          </a:xfrm>
          <a:prstGeom prst="roundRect">
            <a:avLst/>
          </a:prstGeom>
          <a:solidFill>
            <a:srgbClr val="F4E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D253F"/>
                </a:solidFill>
                <a:latin typeface="Arial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7498079" cy="4892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72768"/>
            <a:ext cx="66751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 b="1">
                <a:solidFill>
                  <a:srgbClr val="141C30"/>
                </a:solidFill>
                <a:latin typeface="Arial"/>
              </a:rPr>
              <a:t>这不是想法阶段，而是已经开始成形的工程闭环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97480"/>
            <a:ext cx="68580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 b="0">
                <a:solidFill>
                  <a:srgbClr val="141C30"/>
                </a:solidFill>
                <a:latin typeface="Arial"/>
              </a:rPr>
              <a:t>本地仓库群共扫描到 36 个仓库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141C30"/>
                </a:solidFill>
                <a:latin typeface="Arial"/>
              </a:rPr>
              <a:t>最近 30 天有更新的仓库有 36 个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141C30"/>
                </a:solidFill>
                <a:latin typeface="Arial"/>
              </a:rPr>
              <a:t>spear-check 已在 18 个仓库持续接入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58200" y="1325880"/>
            <a:ext cx="3063240" cy="4892040"/>
          </a:xfrm>
          <a:prstGeom prst="roundRect">
            <a:avLst/>
          </a:prstGeom>
          <a:solidFill>
            <a:srgbClr val="0D2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32520" y="16459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4E8CA"/>
                </a:solidFill>
                <a:latin typeface="Arial"/>
              </a:rPr>
              <a:t>一句话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20" y="2240280"/>
            <a:ext cx="246888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rial"/>
              </a:rPr>
              <a:t>持续迭代中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32520" y="4892040"/>
            <a:ext cx="24688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F4E8CA"/>
                </a:solidFill>
                <a:latin typeface="Arial"/>
              </a:rPr>
              <a:t>AI 可信执行
面向真实动作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C9D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749807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41C30"/>
                </a:solidFill>
                <a:latin typeface="Arial"/>
              </a:rPr>
              <a:t>可现场验证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07040" y="411480"/>
            <a:ext cx="914400" cy="384048"/>
          </a:xfrm>
          <a:prstGeom prst="roundRect">
            <a:avLst/>
          </a:prstGeom>
          <a:solidFill>
            <a:srgbClr val="F4E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D253F"/>
                </a:solidFill>
                <a:latin typeface="Arial"/>
              </a:rP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7498079" cy="4892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72768"/>
            <a:ext cx="66751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 b="1">
                <a:solidFill>
                  <a:srgbClr val="141C30"/>
                </a:solidFill>
                <a:latin typeface="Arial"/>
              </a:rPr>
              <a:t>现场能证明三件事：能拦、能留证、能查出篡改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97480"/>
            <a:ext cx="68580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 b="0">
                <a:solidFill>
                  <a:srgbClr val="141C30"/>
                </a:solidFill>
                <a:latin typeface="Arial"/>
              </a:rPr>
              <a:t>god-spear：PASS，说明门禁可跑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141C30"/>
                </a:solidFill>
                <a:latin typeface="Arial"/>
              </a:rPr>
              <a:t>safety-valve-spec：PASS，说明动作收据规则可验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141C30"/>
                </a:solidFill>
                <a:latin typeface="Arial"/>
              </a:rPr>
              <a:t>aro-audit：正常样本通过，篡改样本暴露，说明证据链有效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58200" y="1325880"/>
            <a:ext cx="3063240" cy="4892040"/>
          </a:xfrm>
          <a:prstGeom prst="roundRect">
            <a:avLst/>
          </a:prstGeom>
          <a:solidFill>
            <a:srgbClr val="0D2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32520" y="16459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4E8CA"/>
                </a:solidFill>
                <a:latin typeface="Arial"/>
              </a:rPr>
              <a:t>一句话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20" y="2240280"/>
            <a:ext cx="246888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rial"/>
              </a:rPr>
              <a:t>关键路径可回放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32520" y="4892040"/>
            <a:ext cx="24688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F4E8CA"/>
                </a:solidFill>
                <a:latin typeface="Arial"/>
              </a:rPr>
              <a:t>AI 可信执行
面向真实动作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C9D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749807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41C30"/>
                </a:solidFill>
                <a:latin typeface="Arial"/>
              </a:rPr>
              <a:t>产品形态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07040" y="411480"/>
            <a:ext cx="914400" cy="384048"/>
          </a:xfrm>
          <a:prstGeom prst="roundRect">
            <a:avLst/>
          </a:prstGeom>
          <a:solidFill>
            <a:srgbClr val="F4E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D253F"/>
                </a:solidFill>
                <a:latin typeface="Arial"/>
              </a:rP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7498079" cy="4892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72768"/>
            <a:ext cx="66751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 b="1">
                <a:solidFill>
                  <a:srgbClr val="141C30"/>
                </a:solidFill>
                <a:latin typeface="Arial"/>
              </a:rPr>
              <a:t>先用开源进入场景，再用企业版和服务放大价值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97480"/>
            <a:ext cx="68580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 b="0">
                <a:solidFill>
                  <a:srgbClr val="141C30"/>
                </a:solidFill>
                <a:latin typeface="Arial"/>
              </a:rPr>
              <a:t>开源基础版：协议、校验器、示例和 quickstart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141C30"/>
                </a:solidFill>
                <a:latin typeface="Arial"/>
              </a:rPr>
              <a:t>企业部署版：策略包、模板、验证接口和管理面板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141C30"/>
                </a:solidFill>
                <a:latin typeface="Arial"/>
              </a:rPr>
              <a:t>实施服务版：接入、培训、认证和样板复制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58200" y="1325880"/>
            <a:ext cx="3063240" cy="4892040"/>
          </a:xfrm>
          <a:prstGeom prst="roundRect">
            <a:avLst/>
          </a:prstGeom>
          <a:solidFill>
            <a:srgbClr val="0D2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32520" y="16459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4E8CA"/>
                </a:solidFill>
                <a:latin typeface="Arial"/>
              </a:rPr>
              <a:t>一句话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20" y="2240280"/>
            <a:ext cx="246888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rial"/>
              </a:rPr>
              <a:t>软件 + 服务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32520" y="4892040"/>
            <a:ext cx="24688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F4E8CA"/>
                </a:solidFill>
                <a:latin typeface="Arial"/>
              </a:rPr>
              <a:t>AI 可信执行
面向真实动作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C9D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749807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41C30"/>
                </a:solidFill>
                <a:latin typeface="Arial"/>
              </a:rPr>
              <a:t>应用场景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07040" y="411480"/>
            <a:ext cx="914400" cy="384048"/>
          </a:xfrm>
          <a:prstGeom prst="roundRect">
            <a:avLst/>
          </a:prstGeom>
          <a:solidFill>
            <a:srgbClr val="F4E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D253F"/>
                </a:solidFill>
                <a:latin typeface="Arial"/>
              </a:rP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7498079" cy="4892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72768"/>
            <a:ext cx="66751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 b="1">
                <a:solidFill>
                  <a:srgbClr val="141C30"/>
                </a:solidFill>
                <a:latin typeface="Arial"/>
              </a:rPr>
              <a:t>第一批需求会先出现在高责任、高审计压力的流程里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97480"/>
            <a:ext cx="68580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 b="0">
                <a:solidFill>
                  <a:srgbClr val="141C30"/>
                </a:solidFill>
                <a:latin typeface="Arial"/>
              </a:rPr>
              <a:t>IT 运维与自动化发布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141C30"/>
                </a:solidFill>
                <a:latin typeface="Arial"/>
              </a:rPr>
              <a:t>法务、财务、合规和风控流程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141C30"/>
                </a:solidFill>
                <a:latin typeface="Arial"/>
              </a:rPr>
              <a:t>任何需要边界、留痕和问责能力的企业动作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58200" y="1325880"/>
            <a:ext cx="3063240" cy="4892040"/>
          </a:xfrm>
          <a:prstGeom prst="roundRect">
            <a:avLst/>
          </a:prstGeom>
          <a:solidFill>
            <a:srgbClr val="0D2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32520" y="16459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4E8CA"/>
                </a:solidFill>
                <a:latin typeface="Arial"/>
              </a:rPr>
              <a:t>一句话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20" y="2240280"/>
            <a:ext cx="246888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rial"/>
              </a:rPr>
              <a:t>先做高责任场景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32520" y="4892040"/>
            <a:ext cx="24688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F4E8CA"/>
                </a:solidFill>
                <a:latin typeface="Arial"/>
              </a:rPr>
              <a:t>AI 可信执行
面向真实动作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C9D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749807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41C30"/>
                </a:solidFill>
                <a:latin typeface="Arial"/>
              </a:rPr>
              <a:t>商业模式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07040" y="411480"/>
            <a:ext cx="914400" cy="384048"/>
          </a:xfrm>
          <a:prstGeom prst="roundRect">
            <a:avLst/>
          </a:prstGeom>
          <a:solidFill>
            <a:srgbClr val="F4E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D253F"/>
                </a:solidFill>
                <a:latin typeface="Arial"/>
              </a:rPr>
              <a:t>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7498079" cy="4892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72768"/>
            <a:ext cx="66751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 b="1">
                <a:solidFill>
                  <a:srgbClr val="141C30"/>
                </a:solidFill>
                <a:latin typeface="Arial"/>
              </a:rPr>
              <a:t>先做样板，再做可复制部署，再做标准化验证服务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97480"/>
            <a:ext cx="68580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 b="0">
                <a:solidFill>
                  <a:srgbClr val="141C30"/>
                </a:solidFill>
                <a:latin typeface="Arial"/>
              </a:rPr>
              <a:t>开源降低试用门槛，建立进入场景的机会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141C30"/>
                </a:solidFill>
                <a:latin typeface="Arial"/>
              </a:rPr>
              <a:t>企业版沉淀策略、模板和验证能力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141C30"/>
                </a:solidFill>
                <a:latin typeface="Arial"/>
              </a:rPr>
              <a:t>服务帮助客户完成落地和内控对齐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58200" y="1325880"/>
            <a:ext cx="3063240" cy="4892040"/>
          </a:xfrm>
          <a:prstGeom prst="roundRect">
            <a:avLst/>
          </a:prstGeom>
          <a:solidFill>
            <a:srgbClr val="0D2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32520" y="16459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4E8CA"/>
                </a:solidFill>
                <a:latin typeface="Arial"/>
              </a:rPr>
              <a:t>一句话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20" y="2240280"/>
            <a:ext cx="246888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rial"/>
              </a:rPr>
              <a:t>先把试点做成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32520" y="4892040"/>
            <a:ext cx="24688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F4E8CA"/>
                </a:solidFill>
                <a:latin typeface="Arial"/>
              </a:rPr>
              <a:t>AI 可信执行
面向真实动作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C9D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749807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41C30"/>
                </a:solidFill>
                <a:latin typeface="Arial"/>
              </a:rPr>
              <a:t>产业方向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07040" y="411480"/>
            <a:ext cx="914400" cy="384048"/>
          </a:xfrm>
          <a:prstGeom prst="roundRect">
            <a:avLst/>
          </a:prstGeom>
          <a:solidFill>
            <a:srgbClr val="F4E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D253F"/>
                </a:solidFill>
                <a:latin typeface="Arial"/>
              </a:rPr>
              <a:t>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7498079" cy="4892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72768"/>
            <a:ext cx="66751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 b="1">
                <a:solidFill>
                  <a:srgbClr val="141C30"/>
                </a:solidFill>
                <a:latin typeface="Arial"/>
              </a:rPr>
              <a:t>AegisTrust 适合被写成顺应趋势的基础能力，而不是政策口号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97480"/>
            <a:ext cx="68580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 b="0">
                <a:solidFill>
                  <a:srgbClr val="141C30"/>
                </a:solidFill>
                <a:latin typeface="Arial"/>
              </a:rPr>
              <a:t>AI+ 正在从试用走向真实业务接入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141C30"/>
                </a:solidFill>
                <a:latin typeface="Arial"/>
              </a:rPr>
              <a:t>发展和安全并重，会让可信部署需求更明确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141C30"/>
                </a:solidFill>
                <a:latin typeface="Arial"/>
              </a:rPr>
              <a:t>可信执行会逐步成为智能化升级中的基础能力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58200" y="1325880"/>
            <a:ext cx="3063240" cy="4892040"/>
          </a:xfrm>
          <a:prstGeom prst="roundRect">
            <a:avLst/>
          </a:prstGeom>
          <a:solidFill>
            <a:srgbClr val="0D2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32520" y="16459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4E8CA"/>
                </a:solidFill>
                <a:latin typeface="Arial"/>
              </a:rPr>
              <a:t>一句话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20" y="2240280"/>
            <a:ext cx="246888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rial"/>
              </a:rPr>
              <a:t>顺势而为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32520" y="4892040"/>
            <a:ext cx="24688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F4E8CA"/>
                </a:solidFill>
                <a:latin typeface="Arial"/>
              </a:rPr>
              <a:t>AI 可信执行
面向真实动作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C9D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749807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41C30"/>
                </a:solidFill>
                <a:latin typeface="Arial"/>
              </a:rPr>
              <a:t>北京计划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07040" y="411480"/>
            <a:ext cx="914400" cy="384048"/>
          </a:xfrm>
          <a:prstGeom prst="roundRect">
            <a:avLst/>
          </a:prstGeom>
          <a:solidFill>
            <a:srgbClr val="F4E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D253F"/>
                </a:solidFill>
                <a:latin typeface="Arial"/>
              </a:rPr>
              <a:t>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7498079" cy="4892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72768"/>
            <a:ext cx="66751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 b="1">
                <a:solidFill>
                  <a:srgbClr val="141C30"/>
                </a:solidFill>
                <a:latin typeface="Arial"/>
              </a:rPr>
              <a:t>北京适合成为早期验证、样板落地和生态连接的重要节点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97480"/>
            <a:ext cx="68580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 b="0">
                <a:solidFill>
                  <a:srgbClr val="141C30"/>
                </a:solidFill>
                <a:latin typeface="Arial"/>
              </a:rPr>
              <a:t>AI 企业、研究机构和产业服务资源集中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141C30"/>
                </a:solidFill>
                <a:latin typeface="Arial"/>
              </a:rPr>
              <a:t>高责任行业和数字化升级需求集中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141C30"/>
                </a:solidFill>
                <a:latin typeface="Arial"/>
              </a:rPr>
              <a:t>更容易联合高校、园区和平台做样板验证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58200" y="1325880"/>
            <a:ext cx="3063240" cy="4892040"/>
          </a:xfrm>
          <a:prstGeom prst="roundRect">
            <a:avLst/>
          </a:prstGeom>
          <a:solidFill>
            <a:srgbClr val="0D2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32520" y="16459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4E8CA"/>
                </a:solidFill>
                <a:latin typeface="Arial"/>
              </a:rPr>
              <a:t>一句话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20" y="2240280"/>
            <a:ext cx="246888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rial"/>
              </a:rPr>
              <a:t>资源条件匹配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32520" y="4892040"/>
            <a:ext cx="24688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F4E8CA"/>
                </a:solidFill>
                <a:latin typeface="Arial"/>
              </a:rPr>
              <a:t>AI 可信执行
面向真实动作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C9D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749807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41C30"/>
                </a:solidFill>
                <a:latin typeface="Arial"/>
              </a:rPr>
              <a:t>团队与阶段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07040" y="411480"/>
            <a:ext cx="914400" cy="384048"/>
          </a:xfrm>
          <a:prstGeom prst="roundRect">
            <a:avLst/>
          </a:prstGeom>
          <a:solidFill>
            <a:srgbClr val="F4E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D253F"/>
                </a:solidFill>
                <a:latin typeface="Arial"/>
              </a:rPr>
              <a:t>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7498079" cy="4892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72768"/>
            <a:ext cx="66751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 b="1">
                <a:solidFill>
                  <a:srgbClr val="141C30"/>
                </a:solidFill>
                <a:latin typeface="Arial"/>
              </a:rPr>
              <a:t>项目还早，但技术可信度已经建立，正进入场景验证阶段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97480"/>
            <a:ext cx="68580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 b="0">
                <a:solidFill>
                  <a:srgbClr val="141C30"/>
                </a:solidFill>
                <a:latin typeface="Arial"/>
              </a:rPr>
              <a:t>当前最强证明不是头衔，而是持续公开迭代的工程证据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141C30"/>
                </a:solidFill>
                <a:latin typeface="Arial"/>
              </a:rPr>
              <a:t>当前强项：协议设计、验证流程、可信执行工具链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141C30"/>
                </a:solidFill>
                <a:latin typeface="Arial"/>
              </a:rPr>
              <a:t>下一步补强：行业顾问、ToB 交付、试点推进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58200" y="1325880"/>
            <a:ext cx="3063240" cy="4892040"/>
          </a:xfrm>
          <a:prstGeom prst="roundRect">
            <a:avLst/>
          </a:prstGeom>
          <a:solidFill>
            <a:srgbClr val="0D2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32520" y="16459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4E8CA"/>
                </a:solidFill>
                <a:latin typeface="Arial"/>
              </a:rPr>
              <a:t>一句话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20" y="2240280"/>
            <a:ext cx="246888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rial"/>
              </a:rPr>
              <a:t>早期，但可信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32520" y="4892040"/>
            <a:ext cx="24688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F4E8CA"/>
                </a:solidFill>
                <a:latin typeface="Arial"/>
              </a:rPr>
              <a:t>AI 可信执行
面向真实动作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C9D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749807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41C30"/>
                </a:solidFill>
                <a:latin typeface="Arial"/>
              </a:rPr>
              <a:t>下一步与需求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07040" y="411480"/>
            <a:ext cx="914400" cy="384048"/>
          </a:xfrm>
          <a:prstGeom prst="roundRect">
            <a:avLst/>
          </a:prstGeom>
          <a:solidFill>
            <a:srgbClr val="F4E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D253F"/>
                </a:solidFill>
                <a:latin typeface="Arial"/>
              </a:rPr>
              <a:t>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7498079" cy="4892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72768"/>
            <a:ext cx="66751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 b="1">
                <a:solidFill>
                  <a:srgbClr val="141C30"/>
                </a:solidFill>
                <a:latin typeface="Arial"/>
              </a:rPr>
              <a:t>未来 12 个月的重点，不是扩故事，而是把交付路径压短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97480"/>
            <a:ext cx="68580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 b="0">
                <a:solidFill>
                  <a:srgbClr val="141C30"/>
                </a:solidFill>
                <a:latin typeface="Arial"/>
              </a:rPr>
              <a:t>0-3 个月：继续压缩叙事、打磨演示、形成样板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141C30"/>
                </a:solidFill>
                <a:latin typeface="Arial"/>
              </a:rPr>
              <a:t>3-6 个月：完成 2-3 个试点或合作意向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141C30"/>
                </a:solidFill>
                <a:latin typeface="Arial"/>
              </a:rPr>
              <a:t>6-12 个月：形成标准化部署和验证服务能力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58200" y="1325880"/>
            <a:ext cx="3063240" cy="4892040"/>
          </a:xfrm>
          <a:prstGeom prst="roundRect">
            <a:avLst/>
          </a:prstGeom>
          <a:solidFill>
            <a:srgbClr val="0D2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32520" y="16459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4E8CA"/>
                </a:solidFill>
                <a:latin typeface="Arial"/>
              </a:rPr>
              <a:t>一句话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20" y="2240280"/>
            <a:ext cx="246888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rial"/>
              </a:rPr>
              <a:t>需要场景、伙伴和早期资金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32520" y="4892040"/>
            <a:ext cx="24688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F4E8CA"/>
                </a:solidFill>
                <a:latin typeface="Arial"/>
              </a:rPr>
              <a:t>AI 可信执行
面向真实动作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CB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749807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谢谢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07040" y="411480"/>
            <a:ext cx="914400" cy="384048"/>
          </a:xfrm>
          <a:prstGeom prst="roundRect">
            <a:avLst/>
          </a:prstGeom>
          <a:solidFill>
            <a:srgbClr val="F4E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D253F"/>
                </a:solidFill>
                <a:latin typeface="Arial"/>
              </a:rPr>
              <a:t>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00200"/>
            <a:ext cx="6858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31520" y="29260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F4E8CA"/>
                </a:solidFill>
                <a:latin typeface="Arial"/>
              </a:rPr>
              <a:t>AegisTrust = AI 可信执行基础设施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84048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rial"/>
              </a:rPr>
              <a:t>值得被支持的理由，不是故事大，而是问题真、结构对、证据已开始成形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